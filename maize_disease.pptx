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5a83980a-2329-a1c4-d00b-3dcbc3194ae0}">
          <p14:sldIdLst>
            <p14:sldId id="256"/>
            <p14:sldId id="257"/>
            <p14:sldId id="258"/>
          </p14:sldIdLst>
        </p14:section>
        <p14:section name="Data" id="{b704ce06-63be-9f28-a0bf-be2224f95ef6}">
          <p14:sldIdLst>
            <p14:sldId id="259"/>
            <p14:sldId id="260"/>
          </p14:sldIdLst>
        </p14:section>
        <p14:section name="Modelling" id="{b9dfd6b1-fdd1-f916-2adc-4e0e0744520a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Error analysis" id="{9de53e49-6527-4f1e-7c03-a9e948b72cd4}">
          <p14:sldIdLst>
            <p14:sldId id="267"/>
            <p14:sldId id="268"/>
            <p14:sldId id="269"/>
          </p14:sldIdLst>
        </p14:section>
        <p14:section name="Final model" id="{0ef0731e-2e91-0d26-39a8-71820eea0752}">
          <p14:sldIdLst>
            <p14:sldId id="270"/>
            <p14:sldId id="271"/>
            <p14:sldId id="272"/>
          </p14:sldIdLst>
        </p14:section>
        <p14:section name="Wrap-up" id="{b26b406c-e75c-9ef2-86ac-688c582abbbd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2545"/>
                </a:solidFill>
                <a:latin typeface="+mn-lt"/>
              </a:rPr>
              <a:t>Images per class (4,186 total)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Images</c:v>
                </c:pt>
              </c:strCache>
            </c:strRef>
          </c:tx>
          <c:spPr>
            <a:solidFill>
              <a:srgbClr val="4D6D9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254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D6D9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D6D9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D6D9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731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Common Rust  31.2%</c:v>
                  </c:pt>
                  <c:pt idx="1">
                    <c:v>Healthy  27.8%</c:v>
                  </c:pt>
                  <c:pt idx="2">
                    <c:v>Blight  27.4%</c:v>
                  </c:pt>
                  <c:pt idx="3">
                    <c:v>Gray Leaf Spot  13.7%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1306</c:v>
                </c:pt>
                <c:pt idx="1">
                  <c:v>1162</c:v>
                </c:pt>
                <c:pt idx="2">
                  <c:v>1146</c:v>
                </c:pt>
                <c:pt idx="3">
                  <c:v>572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254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D6D9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Maize Leaf Disease Classification  |  YOLO26 vs Custom CNN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Maize Leaf Disease Classification</a:t>
            </a:r>
            <a:endParaRPr lang="en-US" sz="48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C5D3E3"/>
                </a:solidFill>
              </a:rPr>
              <a:t>YOLO26 versus a Custom CNN</a:t>
            </a:r>
            <a:endParaRPr lang="en-US" sz="2400" dirty="0"/>
          </a:p>
        </p:txBody>
      </p:sp>
      <p:sp>
        <p:nvSpPr>
          <p:cNvPr id="4" name="dataset line"/>
          <p:cNvSpPr txBox="1"/>
          <p:nvPr/>
        </p:nvSpPr>
        <p:spPr>
          <a:xfrm>
            <a:off x="731520" y="3017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5D3E3"/>
                </a:solidFill>
              </a:rPr>
              <a:t>Four classes  |  4,186 images  |  70 / 15 / 15 split</a:t>
            </a:r>
            <a:endParaRPr lang="en-US" sz="1600" dirty="0"/>
          </a:p>
        </p:txBody>
      </p:sp>
      <p:sp>
        <p:nvSpPr>
          <p:cNvPr id="5" name="metric 95.68%"/>
          <p:cNvSpPr txBox="1"/>
          <p:nvPr/>
        </p:nvSpPr>
        <p:spPr>
          <a:xfrm>
            <a:off x="731520" y="38404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95.68%</a:t>
            </a:r>
            <a:endParaRPr lang="en-US" sz="5200" dirty="0"/>
          </a:p>
        </p:txBody>
      </p:sp>
      <p:sp>
        <p:nvSpPr>
          <p:cNvPr id="6" name="metric label test accuracy, YOLO26s-cls"/>
          <p:cNvSpPr txBox="1"/>
          <p:nvPr/>
        </p:nvSpPr>
        <p:spPr>
          <a:xfrm>
            <a:off x="731520" y="4709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test accuracy, YOLO26s-cls</a:t>
            </a:r>
            <a:endParaRPr lang="en-US" sz="1500" dirty="0"/>
          </a:p>
        </p:txBody>
      </p:sp>
      <p:sp>
        <p:nvSpPr>
          <p:cNvPr id="7" name="metric 0.2 ms"/>
          <p:cNvSpPr txBox="1"/>
          <p:nvPr/>
        </p:nvSpPr>
        <p:spPr>
          <a:xfrm>
            <a:off x="4480560" y="38404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0.2 ms</a:t>
            </a:r>
            <a:endParaRPr lang="en-US" sz="5200" dirty="0"/>
          </a:p>
        </p:txBody>
      </p:sp>
      <p:sp>
        <p:nvSpPr>
          <p:cNvPr id="8" name="metric label per image"/>
          <p:cNvSpPr txBox="1"/>
          <p:nvPr/>
        </p:nvSpPr>
        <p:spPr>
          <a:xfrm>
            <a:off x="4480560" y="4709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per image</a:t>
            </a:r>
            <a:endParaRPr lang="en-US" sz="1500" dirty="0"/>
          </a:p>
        </p:txBody>
      </p:sp>
      <p:sp>
        <p:nvSpPr>
          <p:cNvPr id="9" name="metric 3.2 MB"/>
          <p:cNvSpPr txBox="1"/>
          <p:nvPr/>
        </p:nvSpPr>
        <p:spPr>
          <a:xfrm>
            <a:off x="8229600" y="38404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3.2 MB</a:t>
            </a:r>
            <a:endParaRPr lang="en-US" sz="5200" dirty="0"/>
          </a:p>
        </p:txBody>
      </p:sp>
      <p:sp>
        <p:nvSpPr>
          <p:cNvPr id="10" name="metric label model size"/>
          <p:cNvSpPr txBox="1"/>
          <p:nvPr/>
        </p:nvSpPr>
        <p:spPr>
          <a:xfrm>
            <a:off x="8229600" y="4709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model size</a:t>
            </a:r>
            <a:endParaRPr lang="en-US" sz="1500" dirty="0"/>
          </a:p>
        </p:txBody>
      </p:sp>
      <p:sp>
        <p:nvSpPr>
          <p:cNvPr id="11" name="takeaway"/>
          <p:cNvSpPr txBox="1"/>
          <p:nvPr/>
        </p:nvSpPr>
        <p:spPr>
          <a:xfrm>
            <a:off x="731520" y="5669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Transfer learning buys 5.1 points of macro F1 over training from scratch</a:t>
            </a:r>
            <a:endParaRPr lang="en-US" sz="1500" dirty="0"/>
          </a:p>
        </p:txBody>
      </p:sp>
      <p:sp>
        <p:nvSpPr>
          <p:cNvPr id="12" name="source"/>
          <p:cNvSpPr txBox="1"/>
          <p:nvPr/>
        </p:nvSpPr>
        <p:spPr>
          <a:xfrm>
            <a:off x="73152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D3E3"/>
                </a:solidFill>
              </a:rPr>
              <a:t>Full pipeline and every number in this deck: Maize_Disease_Detection_YOLO.ipynb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classify a maize leaf at all</a:t>
            </a:r>
            <a:endParaRPr lang="en-US" sz="3200" dirty="0"/>
          </a:p>
        </p:txBody>
      </p:sp>
      <p:sp>
        <p:nvSpPr>
          <p:cNvPr id="3" name="stat 30-50%"/>
          <p:cNvSpPr txBox="1"/>
          <p:nvPr/>
        </p:nvSpPr>
        <p:spPr>
          <a:xfrm>
            <a:off x="548640" y="15544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30–50%</a:t>
            </a:r>
            <a:endParaRPr lang="en-US" sz="8000" dirty="0"/>
          </a:p>
        </p:txBody>
      </p:sp>
      <p:sp>
        <p:nvSpPr>
          <p:cNvPr id="4" name="stat label"/>
          <p:cNvSpPr txBox="1"/>
          <p:nvPr/>
        </p:nvSpPr>
        <p:spPr>
          <a:xfrm>
            <a:off x="548640" y="28346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of yield can be lost to maize foliar disease, and it spreads fast</a:t>
            </a:r>
            <a:endParaRPr lang="en-US" sz="1600" dirty="0"/>
          </a:p>
        </p:txBody>
      </p:sp>
      <p:pic>
        <p:nvPicPr>
          <p:cNvPr id="5" name="icon 1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600200"/>
            <a:ext cx="411480" cy="411480"/>
          </a:xfrm>
          <a:prstGeom prst="rect">
            <a:avLst/>
          </a:prstGeom>
        </p:spPr>
      </p:pic>
      <p:sp>
        <p:nvSpPr>
          <p:cNvPr id="6" name="point 1"/>
          <p:cNvSpPr txBox="1"/>
          <p:nvPr/>
        </p:nvSpPr>
        <p:spPr>
          <a:xfrm>
            <a:off x="6217920" y="15544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Diagnosis is visual inspection by a human agronomist: slow, subjective, and impossible to scale across large plantations.</a:t>
            </a:r>
            <a:endParaRPr lang="en-US" sz="1600" dirty="0"/>
          </a:p>
        </p:txBody>
      </p:sp>
      <p:pic>
        <p:nvPicPr>
          <p:cNvPr id="7" name="icon 2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788920"/>
            <a:ext cx="411480" cy="411480"/>
          </a:xfrm>
          <a:prstGeom prst="rect">
            <a:avLst/>
          </a:prstGeom>
        </p:spPr>
      </p:pic>
      <p:sp>
        <p:nvSpPr>
          <p:cNvPr id="8" name="point 2"/>
          <p:cNvSpPr txBox="1"/>
          <p:nvPr/>
        </p:nvSpPr>
        <p:spPr>
          <a:xfrm>
            <a:off x="6217920" y="27432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Many smallholder farmers have no access to a plant pathologist, so disease is caught only after the damage is irreversible.</a:t>
            </a:r>
            <a:endParaRPr lang="en-US" sz="1600" dirty="0"/>
          </a:p>
        </p:txBody>
      </p:sp>
      <p:pic>
        <p:nvPicPr>
          <p:cNvPr id="9" name="icon 3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977640"/>
            <a:ext cx="411480" cy="411480"/>
          </a:xfrm>
          <a:prstGeom prst="rect">
            <a:avLst/>
          </a:prstGeom>
        </p:spPr>
      </p:pic>
      <p:sp>
        <p:nvSpPr>
          <p:cNvPr id="10" name="point 3"/>
          <p:cNvSpPr txBox="1"/>
          <p:nvPr/>
        </p:nvSpPr>
        <p:spPr>
          <a:xfrm>
            <a:off x="6217920" y="39319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Objective: classify one leaf photo into Blight, Common Rust, Gray Leaf Spot or Healthy.</a:t>
            </a:r>
            <a:endParaRPr lang="en-US" sz="1600" dirty="0"/>
          </a:p>
        </p:txBody>
      </p:sp>
      <p:sp>
        <p:nvSpPr>
          <p:cNvPr id="11" name="callout panel"/>
          <p:cNvSpPr/>
          <p:nvPr/>
        </p:nvSpPr>
        <p:spPr>
          <a:xfrm>
            <a:off x="548640" y="5257800"/>
            <a:ext cx="11091672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callout text"/>
          <p:cNvSpPr txBox="1"/>
          <p:nvPr/>
        </p:nvSpPr>
        <p:spPr>
          <a:xfrm>
            <a:off x="822960" y="5367528"/>
            <a:ext cx="10543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This is a classification problem, not a detection problem.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dataset gives one label per photograph and contains no bounding boxes, so the model is asked what disease this is, not where on the leaf the lesion sits.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Five questions this project answers</a:t>
            </a:r>
            <a:endParaRPr lang="en-US" sz="3200" dirty="0"/>
          </a:p>
        </p:txBody>
      </p:sp>
      <p:sp>
        <p:nvSpPr>
          <p:cNvPr id="3" name="number 1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3200" dirty="0"/>
          </a:p>
        </p:txBody>
      </p:sp>
      <p:sp>
        <p:nvSpPr>
          <p:cNvPr id="4" name="question 1"/>
          <p:cNvSpPr txBox="1"/>
          <p:nvPr/>
        </p:nvSpPr>
        <p:spPr>
          <a:xfrm>
            <a:off x="1280160" y="14173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How accurately can a pretrained YOLO26 classifier separate these four classes?</a:t>
            </a:r>
            <a:endParaRPr lang="en-US" sz="1800" dirty="0"/>
          </a:p>
        </p:txBody>
      </p:sp>
      <p:sp>
        <p:nvSpPr>
          <p:cNvPr id="5" name="number 2"/>
          <p:cNvSpPr txBox="1"/>
          <p:nvPr/>
        </p:nvSpPr>
        <p:spPr>
          <a:xfrm>
            <a:off x="54864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question 2"/>
          <p:cNvSpPr txBox="1"/>
          <p:nvPr/>
        </p:nvSpPr>
        <p:spPr>
          <a:xfrm>
            <a:off x="1280160" y="21488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How close does a small custom CNN get, and how much of YOLO's edge is transfer learning?</a:t>
            </a:r>
            <a:endParaRPr lang="en-US" sz="1800" dirty="0"/>
          </a:p>
        </p:txBody>
      </p:sp>
      <p:sp>
        <p:nvSpPr>
          <p:cNvPr id="7" name="number 3"/>
          <p:cNvSpPr txBox="1"/>
          <p:nvPr/>
        </p:nvSpPr>
        <p:spPr>
          <a:xfrm>
            <a:off x="54864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question 3"/>
          <p:cNvSpPr txBox="1"/>
          <p:nvPr/>
        </p:nvSpPr>
        <p:spPr>
          <a:xfrm>
            <a:off x="1280160" y="2880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Which classes get confused with each other, and is it lighting, blur or genuine visual overlap?</a:t>
            </a:r>
            <a:endParaRPr lang="en-US" sz="1800" dirty="0"/>
          </a:p>
        </p:txBody>
      </p:sp>
      <p:sp>
        <p:nvSpPr>
          <p:cNvPr id="9" name="number 4"/>
          <p:cNvSpPr txBox="1"/>
          <p:nvPr/>
        </p:nvSpPr>
        <p:spPr>
          <a:xfrm>
            <a:off x="54864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3200" dirty="0"/>
          </a:p>
        </p:txBody>
      </p:sp>
      <p:sp>
        <p:nvSpPr>
          <p:cNvPr id="10" name="question 4"/>
          <p:cNvSpPr txBox="1"/>
          <p:nvPr/>
        </p:nvSpPr>
        <p:spPr>
          <a:xfrm>
            <a:off x="1280160" y="36118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What do model size, augmentation and a bigger backbone actually buy on 4,186 images?</a:t>
            </a:r>
            <a:endParaRPr lang="en-US" sz="1800" dirty="0"/>
          </a:p>
        </p:txBody>
      </p:sp>
      <p:sp>
        <p:nvSpPr>
          <p:cNvPr id="11" name="number 5"/>
          <p:cNvSpPr txBox="1"/>
          <p:nvPr/>
        </p:nvSpPr>
        <p:spPr>
          <a:xfrm>
            <a:off x="54864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3200" dirty="0"/>
          </a:p>
        </p:txBody>
      </p:sp>
      <p:sp>
        <p:nvSpPr>
          <p:cNvPr id="12" name="question 5"/>
          <p:cNvSpPr txBox="1"/>
          <p:nvPr/>
        </p:nvSpPr>
        <p:spPr>
          <a:xfrm>
            <a:off x="1280160" y="43434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Which pixels drive the final model's decision: the lesion, or the background?</a:t>
            </a:r>
            <a:endParaRPr lang="en-US" sz="1800" dirty="0"/>
          </a:p>
        </p:txBody>
      </p:sp>
      <p:sp>
        <p:nvSpPr>
          <p:cNvPr id="13" name="callout panel"/>
          <p:cNvSpPr/>
          <p:nvPr/>
        </p:nvSpPr>
        <p:spPr>
          <a:xfrm>
            <a:off x="548640" y="5257800"/>
            <a:ext cx="11091672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callout text"/>
          <p:cNvSpPr txBox="1"/>
          <p:nvPr/>
        </p:nvSpPr>
        <p:spPr>
          <a:xfrm>
            <a:off x="822960" y="5367528"/>
            <a:ext cx="10543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last question is the one a confusion matrix cannot answer.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model can be 95% right and still be reading the soil instead of the leaf.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dataset</a:t>
            </a:r>
            <a:endParaRPr lang="en-US" sz="3200" dirty="0"/>
          </a:p>
        </p:txBody>
      </p:sp>
      <p:pic>
        <p:nvPicPr>
          <p:cNvPr id="3" name="One sample photograph per class: Blight, Common Rust, Gray Leaf Spot, Healthy" descr="One sample photograph per class: Blight, Common Rust, Gray Leaf Spot, Health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1721907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548640" y="3139227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Section 1.3: the first image of each class folder, before any cleaning</a:t>
            </a:r>
            <a:endParaRPr lang="en-US" sz="1000" dirty="0"/>
          </a:p>
        </p:txBody>
      </p:sp>
      <p:sp>
        <p:nvSpPr>
          <p:cNvPr id="5" name="insight panel"/>
          <p:cNvSpPr/>
          <p:nvPr/>
        </p:nvSpPr>
        <p:spPr>
          <a:xfrm>
            <a:off x="548640" y="3657600"/>
            <a:ext cx="6949440" cy="2514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insights"/>
          <p:cNvSpPr txBox="1"/>
          <p:nvPr/>
        </p:nvSpPr>
        <p:spPr>
          <a:xfrm>
            <a:off x="822960" y="3840480"/>
            <a:ext cx="6400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Gray Leaf Spot has only 572 images, about half the size of the other three classes.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Common Rust, Healthy and Blight each hold 27–31% of the data, so the rest is fairly balanced.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Backgrounds, lighting and resolution vary widely, which is the variation a real field deployment would face.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955280" y="1280160"/>
          <a:ext cx="3685032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allout panel"/>
          <p:cNvSpPr/>
          <p:nvPr/>
        </p:nvSpPr>
        <p:spPr>
          <a:xfrm>
            <a:off x="7955280" y="4709160"/>
            <a:ext cx="3685032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callout text"/>
          <p:cNvSpPr txBox="1"/>
          <p:nvPr/>
        </p:nvSpPr>
        <p:spPr>
          <a:xfrm>
            <a:off x="8229600" y="4818888"/>
            <a:ext cx="313639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Kaggle Corn or Maize Leaf Disease Dataset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 hygiene, then a split</a:t>
            </a:r>
            <a:endParaRPr lang="en-US" sz="3200" dirty="0"/>
          </a:p>
        </p:txBody>
      </p:sp>
      <p:sp>
        <p:nvSpPr>
          <p:cNvPr id="3" name="stat 4,188 → 4,186"/>
          <p:cNvSpPr txBox="1"/>
          <p:nvPr/>
        </p:nvSpPr>
        <p:spPr>
          <a:xfrm>
            <a:off x="548640" y="13716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4,188 → 4,186</a:t>
            </a:r>
            <a:endParaRPr lang="en-US" sz="4000" dirty="0"/>
          </a:p>
        </p:txBody>
      </p:sp>
      <p:sp>
        <p:nvSpPr>
          <p:cNvPr id="4" name="label 4,188 → 4,186"/>
          <p:cNvSpPr txBox="1"/>
          <p:nvPr/>
        </p:nvSpPr>
        <p:spPr>
          <a:xfrm>
            <a:off x="548640" y="20756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files in, usable images out (Sections 1.2 and 2.1)</a:t>
            </a:r>
            <a:endParaRPr lang="en-US" sz="1200" dirty="0"/>
          </a:p>
        </p:txBody>
      </p:sp>
      <p:sp>
        <p:nvSpPr>
          <p:cNvPr id="5" name="hygiene points"/>
          <p:cNvSpPr txBox="1"/>
          <p:nvPr/>
        </p:nvSpPr>
        <p:spPr>
          <a:xfrm>
            <a:off x="548640" y="27432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Indexed by content hash first: 2 byte-identical photographs sat in two class folders under different labels, so one label was wrong.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Hundreds of files end in uppercase .JPG, which a lowercase *.jpg glob silently misses.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4 images are RGBA and 1 is CMYK; resolutions range from 180×116 to 5184×5184.</a:t>
            </a:r>
            <a:endParaRPr lang="en-US" sz="1400" dirty="0"/>
          </a:p>
        </p:txBody>
      </p:sp>
      <p:sp>
        <p:nvSpPr>
          <p:cNvPr id="6" name="split heading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Split 70 / 15 / 15, seed 42, one job per part</a:t>
            </a:r>
            <a:endParaRPr lang="en-US" sz="1600" dirty="0"/>
          </a:p>
        </p:txBody>
      </p:sp>
      <p:sp>
        <p:nvSpPr>
          <p:cNvPr id="7" name="split Train 70%"/>
          <p:cNvSpPr/>
          <p:nvPr/>
        </p:nvSpPr>
        <p:spPr>
          <a:xfrm>
            <a:off x="6309360" y="1828800"/>
            <a:ext cx="3731666" cy="59436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8" name="split label Train 70%"/>
          <p:cNvSpPr txBox="1"/>
          <p:nvPr/>
        </p:nvSpPr>
        <p:spPr>
          <a:xfrm>
            <a:off x="6309360" y="1828800"/>
            <a:ext cx="373166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Train 70%</a:t>
            </a:r>
            <a:endParaRPr lang="en-US" sz="1400" dirty="0"/>
          </a:p>
        </p:txBody>
      </p:sp>
      <p:sp>
        <p:nvSpPr>
          <p:cNvPr id="9" name="split Val 15%"/>
          <p:cNvSpPr/>
          <p:nvPr/>
        </p:nvSpPr>
        <p:spPr>
          <a:xfrm>
            <a:off x="10041026" y="1828800"/>
            <a:ext cx="799643" cy="59436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0" name="split label Val 15%"/>
          <p:cNvSpPr txBox="1"/>
          <p:nvPr/>
        </p:nvSpPr>
        <p:spPr>
          <a:xfrm>
            <a:off x="10041026" y="1828800"/>
            <a:ext cx="79964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Val 15%</a:t>
            </a:r>
            <a:endParaRPr lang="en-US" sz="1100" dirty="0"/>
          </a:p>
        </p:txBody>
      </p:sp>
      <p:sp>
        <p:nvSpPr>
          <p:cNvPr id="11" name="split Test 15%"/>
          <p:cNvSpPr/>
          <p:nvPr/>
        </p:nvSpPr>
        <p:spPr>
          <a:xfrm>
            <a:off x="10840669" y="1828800"/>
            <a:ext cx="799643" cy="59436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2" name="split label Test 15%"/>
          <p:cNvSpPr txBox="1"/>
          <p:nvPr/>
        </p:nvSpPr>
        <p:spPr>
          <a:xfrm>
            <a:off x="10840669" y="1828800"/>
            <a:ext cx="79964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Test 15%</a:t>
            </a:r>
            <a:endParaRPr lang="en-US" sz="1100" dirty="0"/>
          </a:p>
        </p:txBody>
      </p:sp>
      <p:sp>
        <p:nvSpPr>
          <p:cNvPr id="13" name="count train"/>
          <p:cNvSpPr txBox="1"/>
          <p:nvPr/>
        </p:nvSpPr>
        <p:spPr>
          <a:xfrm>
            <a:off x="6309360" y="2743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3,664</a:t>
            </a:r>
            <a:endParaRPr lang="en-US" sz="2800" dirty="0"/>
          </a:p>
        </p:txBody>
      </p:sp>
      <p:sp>
        <p:nvSpPr>
          <p:cNvPr id="14" name="part train"/>
          <p:cNvSpPr txBox="1"/>
          <p:nvPr/>
        </p:nvSpPr>
        <p:spPr>
          <a:xfrm>
            <a:off x="7589520" y="27432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train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levelled to 916 per class by repetition</a:t>
            </a:r>
            <a:endParaRPr lang="en-US" sz="1300" dirty="0"/>
          </a:p>
        </p:txBody>
      </p:sp>
      <p:sp>
        <p:nvSpPr>
          <p:cNvPr id="15" name="count val"/>
          <p:cNvSpPr txBox="1"/>
          <p:nvPr/>
        </p:nvSpPr>
        <p:spPr>
          <a:xfrm>
            <a:off x="6309360" y="3520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625</a:t>
            </a:r>
            <a:endParaRPr lang="en-US" sz="2800" dirty="0"/>
          </a:p>
        </p:txBody>
      </p:sp>
      <p:sp>
        <p:nvSpPr>
          <p:cNvPr id="16" name="part val"/>
          <p:cNvSpPr txBox="1"/>
          <p:nvPr/>
        </p:nvSpPr>
        <p:spPr>
          <a:xfrm>
            <a:off x="7589520" y="35204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natural distribution; every selection decision is made here</a:t>
            </a:r>
            <a:endParaRPr lang="en-US" sz="1300" dirty="0"/>
          </a:p>
        </p:txBody>
      </p:sp>
      <p:sp>
        <p:nvSpPr>
          <p:cNvPr id="17" name="count test"/>
          <p:cNvSpPr txBox="1"/>
          <p:nvPr/>
        </p:nvSpPr>
        <p:spPr>
          <a:xfrm>
            <a:off x="6309360" y="4297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625</a:t>
            </a:r>
            <a:endParaRPr lang="en-US" sz="2800" dirty="0"/>
          </a:p>
        </p:txBody>
      </p:sp>
      <p:sp>
        <p:nvSpPr>
          <p:cNvPr id="18" name="part test"/>
          <p:cNvSpPr txBox="1"/>
          <p:nvPr/>
        </p:nvSpPr>
        <p:spPr>
          <a:xfrm>
            <a:off x="7589520" y="42976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natural distribution; read once, with the final model</a:t>
            </a:r>
            <a:endParaRPr lang="en-US" sz="1300" dirty="0"/>
          </a:p>
        </p:txBody>
      </p:sp>
      <p:sp>
        <p:nvSpPr>
          <p:cNvPr id="19" name="callout panel"/>
          <p:cNvSpPr/>
          <p:nvPr/>
        </p:nvSpPr>
        <p:spPr>
          <a:xfrm>
            <a:off x="548640" y="5349240"/>
            <a:ext cx="11091672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callout text"/>
          <p:cNvSpPr txBox="1"/>
          <p:nvPr/>
        </p:nvSpPr>
        <p:spPr>
          <a:xfrm>
            <a:off x="822960" y="5458968"/>
            <a:ext cx="10543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Levelling the training split does not create new photographs.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Gray Leaf Spot is still the hardest class underneath; that limitation is documented, not hidden.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Two models, one split</a:t>
            </a:r>
            <a:endParaRPr lang="en-US" sz="3200" dirty="0"/>
          </a:p>
        </p:txBody>
      </p:sp>
      <p:graphicFrame>
        <p:nvGraphicFramePr>
          <p:cNvPr id="7" name="model 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040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26517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Model A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Model B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yolo26n-cls.pt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custom CNN, 2 conv/pool blocks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Starting weights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ImageNet-pretrained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random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Framework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PyTorch (ultralytics)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TensorFlow / Keras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Input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256 × 256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128 × 128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Epochs run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5 (early enough)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16 (early stopped)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model points"/>
          <p:cNvSpPr txBox="1"/>
          <p:nvPr/>
        </p:nvSpPr>
        <p:spPr>
          <a:xfrm>
            <a:off x="8138160" y="1463040"/>
            <a:ext cx="350215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Model A only has to learn four leaf classes; Model B has to learn vision too.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Running both measures what the pretraining is really worth.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Neither model ever sees the test split during training or tuning.</a:t>
            </a:r>
            <a:endParaRPr lang="en-US" sz="1500" dirty="0"/>
          </a:p>
        </p:txBody>
      </p:sp>
      <p:sp>
        <p:nvSpPr>
          <p:cNvPr id="5" name="callout panel"/>
          <p:cNvSpPr/>
          <p:nvPr/>
        </p:nvSpPr>
        <p:spPr>
          <a:xfrm>
            <a:off x="548640" y="5074920"/>
            <a:ext cx="11091672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callout text"/>
          <p:cNvSpPr txBox="1"/>
          <p:nvPr/>
        </p:nvSpPr>
        <p:spPr>
          <a:xfrm>
            <a:off x="822960" y="5184648"/>
            <a:ext cx="10543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Section 5 trains them identically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so the comparison isolates architecture and pretraining, not training effort.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Model A: pretrained YOLO26n</a:t>
            </a:r>
            <a:endParaRPr lang="en-US" sz="3200" dirty="0"/>
          </a:p>
        </p:txBody>
      </p:sp>
      <p:pic>
        <p:nvPicPr>
          <p:cNvPr id="3" name="Model A training curves: train loss, val loss, top-1 and top-5 accuracy over 5 epochs" descr="Model A training curves: train loss, val loss, top-1 and top-5 accuracy over 5 epoch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108960" cy="3108960"/>
          </a:xfrm>
          <a:prstGeom prst="rect">
            <a:avLst/>
          </a:prstGeom>
        </p:spPr>
      </p:pic>
      <p:pic>
        <p:nvPicPr>
          <p:cNvPr id="4" name="Model A normalized confusion matrix" descr="Model A normalized confusion matri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71600"/>
            <a:ext cx="4145280" cy="310896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45262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Section 3.4: training curves</a:t>
            </a:r>
            <a:endParaRPr lang="en-US" sz="1000" dirty="0"/>
          </a:p>
        </p:txBody>
      </p:sp>
      <p:sp>
        <p:nvSpPr>
          <p:cNvPr id="6" name="caption"/>
          <p:cNvSpPr txBox="1"/>
          <p:nvPr/>
        </p:nvSpPr>
        <p:spPr>
          <a:xfrm>
            <a:off x="3931920" y="45262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Section 3.7: confusion matrix</a:t>
            </a:r>
            <a:endParaRPr lang="en-US" sz="1000" dirty="0"/>
          </a:p>
        </p:txBody>
      </p:sp>
      <p:sp>
        <p:nvSpPr>
          <p:cNvPr id="7" name="stat 93.75%"/>
          <p:cNvSpPr txBox="1"/>
          <p:nvPr/>
        </p:nvSpPr>
        <p:spPr>
          <a:xfrm>
            <a:off x="8778240" y="13716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93.75%</a:t>
            </a:r>
            <a:endParaRPr lang="en-US" sz="3400" dirty="0"/>
          </a:p>
        </p:txBody>
      </p:sp>
      <p:sp>
        <p:nvSpPr>
          <p:cNvPr id="8" name="label 93.75%"/>
          <p:cNvSpPr txBox="1"/>
          <p:nvPr/>
        </p:nvSpPr>
        <p:spPr>
          <a:xfrm>
            <a:off x="8778240" y="19842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val macro F1</a:t>
            </a:r>
            <a:endParaRPr lang="en-US" sz="1200" dirty="0"/>
          </a:p>
        </p:txBody>
      </p:sp>
      <p:sp>
        <p:nvSpPr>
          <p:cNvPr id="9" name="stat 591 / 625"/>
          <p:cNvSpPr txBox="1"/>
          <p:nvPr/>
        </p:nvSpPr>
        <p:spPr>
          <a:xfrm>
            <a:off x="8778240" y="24231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591 / 625</a:t>
            </a:r>
            <a:endParaRPr lang="en-US" sz="3400" dirty="0"/>
          </a:p>
        </p:txBody>
      </p:sp>
      <p:sp>
        <p:nvSpPr>
          <p:cNvPr id="10" name="label 591 / 625"/>
          <p:cNvSpPr txBox="1"/>
          <p:nvPr/>
        </p:nvSpPr>
        <p:spPr>
          <a:xfrm>
            <a:off x="8778240" y="30358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test images correct</a:t>
            </a:r>
            <a:endParaRPr lang="en-US" sz="1200" dirty="0"/>
          </a:p>
        </p:txBody>
      </p:sp>
      <p:sp>
        <p:nvSpPr>
          <p:cNvPr id="11" name="stat 168 s"/>
          <p:cNvSpPr txBox="1"/>
          <p:nvPr/>
        </p:nvSpPr>
        <p:spPr>
          <a:xfrm>
            <a:off x="8778240" y="34747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168 s</a:t>
            </a:r>
            <a:endParaRPr lang="en-US" sz="3400" dirty="0"/>
          </a:p>
        </p:txBody>
      </p:sp>
      <p:sp>
        <p:nvSpPr>
          <p:cNvPr id="12" name="label 168 s"/>
          <p:cNvSpPr txBox="1"/>
          <p:nvPr/>
        </p:nvSpPr>
        <p:spPr>
          <a:xfrm>
            <a:off x="8778240" y="40873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for 5 epochs on MPS</a:t>
            </a:r>
            <a:endParaRPr lang="en-US" sz="1200" dirty="0"/>
          </a:p>
        </p:txBody>
      </p:sp>
      <p:sp>
        <p:nvSpPr>
          <p:cNvPr id="13" name="insight panel"/>
          <p:cNvSpPr/>
          <p:nvPr/>
        </p:nvSpPr>
        <p:spPr>
          <a:xfrm>
            <a:off x="548640" y="4937760"/>
            <a:ext cx="11091672" cy="1325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insights"/>
          <p:cNvSpPr txBox="1"/>
          <p:nvPr/>
        </p:nvSpPr>
        <p:spPr>
          <a:xfrm>
            <a:off x="822960" y="512064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Training loss fell from 0.68 to 0.11 in five epochs while validation accuracy reached about 95%, so the pretrained model had little left to learn.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Common Rust and Healthy are almost always right, at 0.96 and 0.99 on the matrix diagonal.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Blight and Gray Leaf Spot trade errors in both directions, and that pair is the only real weakness.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Model B: custom CNN from scratch</a:t>
            </a:r>
            <a:endParaRPr lang="en-US" sz="3200" dirty="0"/>
          </a:p>
        </p:txBody>
      </p:sp>
      <p:pic>
        <p:nvPicPr>
          <p:cNvPr id="3" name="Model B training curves: loss and accuracy over 16 epochs" descr="Model B training curves: loss and accuracy over 16 epoch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486400" cy="1871330"/>
          </a:xfrm>
          <a:prstGeom prst="rect">
            <a:avLst/>
          </a:prstGeom>
        </p:spPr>
      </p:pic>
      <p:pic>
        <p:nvPicPr>
          <p:cNvPr id="4" name="Model B confusion matrix with counts" descr="Model B confusion matrix with cou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3108960" cy="2994285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3886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Section 4.6: training curves</a:t>
            </a:r>
            <a:endParaRPr lang="en-US" sz="1000" dirty="0"/>
          </a:p>
        </p:txBody>
      </p:sp>
      <p:sp>
        <p:nvSpPr>
          <p:cNvPr id="6" name="caption"/>
          <p:cNvSpPr txBox="1"/>
          <p:nvPr/>
        </p:nvSpPr>
        <p:spPr>
          <a:xfrm>
            <a:off x="6309360" y="45262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Section 4.8: confusion matrix</a:t>
            </a:r>
            <a:endParaRPr lang="en-US" sz="1000" dirty="0"/>
          </a:p>
        </p:txBody>
      </p:sp>
      <p:sp>
        <p:nvSpPr>
          <p:cNvPr id="7" name="stat 326 s"/>
          <p:cNvSpPr txBox="1"/>
          <p:nvPr/>
        </p:nvSpPr>
        <p:spPr>
          <a:xfrm>
            <a:off x="9784080" y="1371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326 s</a:t>
            </a:r>
            <a:endParaRPr lang="en-US" sz="2400" dirty="0"/>
          </a:p>
        </p:txBody>
      </p:sp>
      <p:sp>
        <p:nvSpPr>
          <p:cNvPr id="8" name="label 326 s"/>
          <p:cNvSpPr txBox="1"/>
          <p:nvPr/>
        </p:nvSpPr>
        <p:spPr>
          <a:xfrm>
            <a:off x="9784080" y="18013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16 epochs, early stopped</a:t>
            </a:r>
            <a:endParaRPr lang="en-US" sz="1100" dirty="0"/>
          </a:p>
        </p:txBody>
      </p:sp>
      <p:sp>
        <p:nvSpPr>
          <p:cNvPr id="9" name="stat 88.65%"/>
          <p:cNvSpPr txBox="1"/>
          <p:nvPr/>
        </p:nvSpPr>
        <p:spPr>
          <a:xfrm>
            <a:off x="9784080" y="21488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88.65%</a:t>
            </a:r>
            <a:endParaRPr lang="en-US" sz="2400" dirty="0"/>
          </a:p>
        </p:txBody>
      </p:sp>
      <p:sp>
        <p:nvSpPr>
          <p:cNvPr id="10" name="label 88.65%"/>
          <p:cNvSpPr txBox="1"/>
          <p:nvPr/>
        </p:nvSpPr>
        <p:spPr>
          <a:xfrm>
            <a:off x="9784080" y="25786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val macro F1</a:t>
            </a:r>
            <a:endParaRPr lang="en-US" sz="1100" dirty="0"/>
          </a:p>
        </p:txBody>
      </p:sp>
      <p:sp>
        <p:nvSpPr>
          <p:cNvPr id="11" name="stat 559 / 625"/>
          <p:cNvSpPr txBox="1"/>
          <p:nvPr/>
        </p:nvSpPr>
        <p:spPr>
          <a:xfrm>
            <a:off x="9784080" y="29260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559 / 625</a:t>
            </a:r>
            <a:endParaRPr lang="en-US" sz="2400" dirty="0"/>
          </a:p>
        </p:txBody>
      </p:sp>
      <p:sp>
        <p:nvSpPr>
          <p:cNvPr id="12" name="label 559 / 625"/>
          <p:cNvSpPr txBox="1"/>
          <p:nvPr/>
        </p:nvSpPr>
        <p:spPr>
          <a:xfrm>
            <a:off x="9784080" y="33558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test images correct</a:t>
            </a:r>
            <a:endParaRPr lang="en-US" sz="1100" dirty="0"/>
          </a:p>
        </p:txBody>
      </p:sp>
      <p:sp>
        <p:nvSpPr>
          <p:cNvPr id="13" name="stat 25 of 85"/>
          <p:cNvSpPr txBox="1"/>
          <p:nvPr/>
        </p:nvSpPr>
        <p:spPr>
          <a:xfrm>
            <a:off x="9784080" y="3703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25 of 85</a:t>
            </a:r>
            <a:endParaRPr lang="en-US" sz="2400" dirty="0"/>
          </a:p>
        </p:txBody>
      </p:sp>
      <p:sp>
        <p:nvSpPr>
          <p:cNvPr id="14" name="label 25 of 85"/>
          <p:cNvSpPr txBox="1"/>
          <p:nvPr/>
        </p:nvSpPr>
        <p:spPr>
          <a:xfrm>
            <a:off x="9784080" y="41330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Gray Leaf Spot read as Blight</a:t>
            </a:r>
            <a:endParaRPr lang="en-US" sz="1100" dirty="0"/>
          </a:p>
        </p:txBody>
      </p:sp>
      <p:sp>
        <p:nvSpPr>
          <p:cNvPr id="15" name="insight panel"/>
          <p:cNvSpPr/>
          <p:nvPr/>
        </p:nvSpPr>
        <p:spPr>
          <a:xfrm>
            <a:off x="548640" y="4937760"/>
            <a:ext cx="11091672" cy="1325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insights"/>
          <p:cNvSpPr txBox="1"/>
          <p:nvPr/>
        </p:nvSpPr>
        <p:spPr>
          <a:xfrm>
            <a:off x="822960" y="512064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Validation accuracy was still climbing when early stopping fired at epoch 16 of 20, so the CNN is limited by capacity, not by undertraining.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Gray Leaf Spot is the weakest class: only 59 of 85 are right, and 25 are read as Blight.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Common Rust also leaks into Blight (12) and Gray Leaf Spot (8), the same trouble spots as Model 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Head to head</a:t>
            </a:r>
            <a:endParaRPr lang="en-US" sz="3200" dirty="0"/>
          </a:p>
        </p:txBody>
      </p:sp>
      <p:graphicFrame>
        <p:nvGraphicFramePr>
          <p:cNvPr id="10" name="head to hea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1737360"/>
                <a:gridCol w="1645920"/>
                <a:gridCol w="1554480"/>
                <a:gridCol w="16733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Val macro F1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Test accuracy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Train time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Size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Inference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A: YOLO26n-cls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93.75%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94.56%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2.8 min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3.2 MB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0.2 ms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B: Custom CNN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88.65%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89.44%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5.4 min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100.9 MB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1.7 ms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Accuracy against inference time for both models" descr="Accuracy against inference time for both mode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17520"/>
            <a:ext cx="4115477" cy="283464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5897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Section 5.5: accuracy against inference cost</a:t>
            </a:r>
            <a:endParaRPr lang="en-US" sz="1000" dirty="0"/>
          </a:p>
        </p:txBody>
      </p:sp>
      <p:sp>
        <p:nvSpPr>
          <p:cNvPr id="6" name="stat 31×"/>
          <p:cNvSpPr txBox="1"/>
          <p:nvPr/>
        </p:nvSpPr>
        <p:spPr>
          <a:xfrm>
            <a:off x="5394960" y="3017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31×</a:t>
            </a:r>
            <a:endParaRPr lang="en-US" sz="4000" dirty="0"/>
          </a:p>
        </p:txBody>
      </p:sp>
      <p:sp>
        <p:nvSpPr>
          <p:cNvPr id="7" name="label 31×"/>
          <p:cNvSpPr txBox="1"/>
          <p:nvPr/>
        </p:nvSpPr>
        <p:spPr>
          <a:xfrm>
            <a:off x="5394960" y="3675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smaller</a:t>
            </a:r>
            <a:endParaRPr lang="en-US" sz="1200" dirty="0"/>
          </a:p>
        </p:txBody>
      </p:sp>
      <p:sp>
        <p:nvSpPr>
          <p:cNvPr id="8" name="stat 8×"/>
          <p:cNvSpPr txBox="1"/>
          <p:nvPr/>
        </p:nvSpPr>
        <p:spPr>
          <a:xfrm>
            <a:off x="8869680" y="3017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8×</a:t>
            </a:r>
            <a:endParaRPr lang="en-US" sz="4000" dirty="0"/>
          </a:p>
        </p:txBody>
      </p:sp>
      <p:sp>
        <p:nvSpPr>
          <p:cNvPr id="9" name="label 8×"/>
          <p:cNvSpPr txBox="1"/>
          <p:nvPr/>
        </p:nvSpPr>
        <p:spPr>
          <a:xfrm>
            <a:off x="8869680" y="3675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faster</a:t>
            </a:r>
            <a:endParaRPr lang="en-US" sz="1200" dirty="0"/>
          </a:p>
        </p:txBody>
      </p:sp>
      <p:sp>
        <p:nvSpPr>
          <p:cNvPr id="10" name="insights"/>
          <p:cNvSpPr txBox="1"/>
          <p:nvPr/>
        </p:nvSpPr>
        <p:spPr>
          <a:xfrm>
            <a:off x="5394960" y="4251960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YOLO is more accurate (94.56% vs 89.44%) and trains in half the time.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On the plot it sits in the best corner for both accuracy and speed.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There is no trade-off to argue about: Model B is not a cheaper alternative, it is a worse 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Where both models fail</a:t>
            </a:r>
            <a:endParaRPr lang="en-US" sz="3200" dirty="0"/>
          </a:p>
        </p:txBody>
      </p:sp>
      <p:pic>
        <p:nvPicPr>
          <p:cNvPr id="3" name="Confusion matrices for YOLO26n and the custom CNN, side by side on the test split" descr="Confusion matrices for YOLO26n and the custom CNN, side by side on the test spl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766560" cy="2992706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548640" y="4410026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Section 5.6: confusion matrices side by side, on the test split</a:t>
            </a:r>
            <a:endParaRPr lang="en-US" sz="1000" dirty="0"/>
          </a:p>
        </p:txBody>
      </p:sp>
      <p:graphicFrame>
        <p:nvGraphicFramePr>
          <p:cNvPr id="11" name="confusion pai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554480"/>
          <a:ext cx="395935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914400"/>
                <a:gridCol w="941832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Confusion pair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YOLO26n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Custom CNN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Blight ↔ Gray Leaf Spot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24 + 34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43 + 66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Common Rust read as Blight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21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Healthy misread at all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insight panel"/>
          <p:cNvSpPr/>
          <p:nvPr/>
        </p:nvSpPr>
        <p:spPr>
          <a:xfrm>
            <a:off x="548640" y="4937760"/>
            <a:ext cx="11091672" cy="1325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insights"/>
          <p:cNvSpPr txBox="1"/>
          <p:nvPr/>
        </p:nvSpPr>
        <p:spPr>
          <a:xfrm>
            <a:off x="822960" y="512064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Both models fail the same way, on Blight and Gray Leaf Spot, so the problem is the data, not the architecture.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The two diseases leave genuinely similar necrotic patches, which is hard to separate even for a stronger model.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Common Rust is where the custom CNN loses far more leaves than YOLO, while Healthy is almost never misread by either.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Selecting the winner</a:t>
            </a:r>
            <a:endParaRPr lang="en-US" sz="3200" dirty="0"/>
          </a:p>
        </p:txBody>
      </p:sp>
      <p:sp>
        <p:nvSpPr>
          <p:cNvPr id="3" name="criterion"/>
          <p:cNvSpPr txBox="1"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Criterion: validation macro F1, fixed in advance (Section 5.7)</a:t>
            </a:r>
            <a:endParaRPr lang="en-US" sz="1500" dirty="0"/>
          </a:p>
        </p:txBody>
      </p:sp>
      <p:sp>
        <p:nvSpPr>
          <p:cNvPr id="4" name="model A tile"/>
          <p:cNvSpPr/>
          <p:nvPr/>
        </p:nvSpPr>
        <p:spPr>
          <a:xfrm>
            <a:off x="548640" y="1920240"/>
            <a:ext cx="3200400" cy="2468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model A name"/>
          <p:cNvSpPr txBox="1"/>
          <p:nvPr/>
        </p:nvSpPr>
        <p:spPr>
          <a:xfrm>
            <a:off x="82296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Model A</a:t>
            </a:r>
            <a:endParaRPr lang="en-US" sz="1400" dirty="0"/>
          </a:p>
        </p:txBody>
      </p:sp>
      <p:sp>
        <p:nvSpPr>
          <p:cNvPr id="6" name="model A score"/>
          <p:cNvSpPr txBox="1"/>
          <p:nvPr/>
        </p:nvSpPr>
        <p:spPr>
          <a:xfrm>
            <a:off x="822960" y="2514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93.75%</a:t>
            </a:r>
            <a:endParaRPr lang="en-US" sz="5400" dirty="0"/>
          </a:p>
        </p:txBody>
      </p:sp>
      <p:sp>
        <p:nvSpPr>
          <p:cNvPr id="7" name="model A detail"/>
          <p:cNvSpPr txBox="1"/>
          <p:nvPr/>
        </p:nvSpPr>
        <p:spPr>
          <a:xfrm>
            <a:off x="822960" y="3566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D3E3"/>
                </a:solidFill>
              </a:rPr>
              <a:t>YOLO26n-cls. Winner: 3.2 MB, 0.2 ms per image.</a:t>
            </a:r>
            <a:endParaRPr lang="en-US" sz="1300" dirty="0"/>
          </a:p>
        </p:txBody>
      </p:sp>
      <p:sp>
        <p:nvSpPr>
          <p:cNvPr id="8" name="model B tile"/>
          <p:cNvSpPr/>
          <p:nvPr/>
        </p:nvSpPr>
        <p:spPr>
          <a:xfrm>
            <a:off x="4023360" y="1920240"/>
            <a:ext cx="3200400" cy="2468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model B name"/>
          <p:cNvSpPr txBox="1"/>
          <p:nvPr/>
        </p:nvSpPr>
        <p:spPr>
          <a:xfrm>
            <a:off x="429768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Model B</a:t>
            </a:r>
            <a:endParaRPr lang="en-US" sz="1400" dirty="0"/>
          </a:p>
        </p:txBody>
      </p:sp>
      <p:sp>
        <p:nvSpPr>
          <p:cNvPr id="10" name="model B score"/>
          <p:cNvSpPr txBox="1"/>
          <p:nvPr/>
        </p:nvSpPr>
        <p:spPr>
          <a:xfrm>
            <a:off x="4297680" y="2514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88.65%</a:t>
            </a:r>
            <a:endParaRPr lang="en-US" sz="5400" dirty="0"/>
          </a:p>
        </p:txBody>
      </p:sp>
      <p:sp>
        <p:nvSpPr>
          <p:cNvPr id="11" name="model B detail"/>
          <p:cNvSpPr txBox="1"/>
          <p:nvPr/>
        </p:nvSpPr>
        <p:spPr>
          <a:xfrm>
            <a:off x="4297680" y="3566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Custom CNN</a:t>
            </a:r>
            <a:endParaRPr lang="en-US" sz="1300" dirty="0"/>
          </a:p>
        </p:txBody>
      </p:sp>
      <p:sp>
        <p:nvSpPr>
          <p:cNvPr id="12" name="gap stat"/>
          <p:cNvSpPr txBox="1"/>
          <p:nvPr/>
        </p:nvSpPr>
        <p:spPr>
          <a:xfrm>
            <a:off x="548640" y="461772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+5.10 points</a:t>
            </a:r>
            <a:endParaRPr lang="en-US" sz="3000" dirty="0"/>
          </a:p>
        </p:txBody>
      </p:sp>
      <p:sp>
        <p:nvSpPr>
          <p:cNvPr id="13" name="gap label"/>
          <p:cNvSpPr txBox="1"/>
          <p:nvPr/>
        </p:nvSpPr>
        <p:spPr>
          <a:xfrm>
            <a:off x="548640" y="51663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gap in favour of Model A</a:t>
            </a:r>
            <a:endParaRPr lang="en-US" sz="1300" dirty="0"/>
          </a:p>
        </p:txBody>
      </p:sp>
      <p:sp>
        <p:nvSpPr>
          <p:cNvPr id="14" name="why heading"/>
          <p:cNvSpPr txBox="1"/>
          <p:nvPr/>
        </p:nvSpPr>
        <p:spPr>
          <a:xfrm>
            <a:off x="777240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Why validation and not test</a:t>
            </a:r>
            <a:endParaRPr lang="en-US" sz="1800" dirty="0"/>
          </a:p>
        </p:txBody>
      </p:sp>
      <p:sp>
        <p:nvSpPr>
          <p:cNvPr id="15" name="why body"/>
          <p:cNvSpPr txBox="1"/>
          <p:nvPr/>
        </p:nvSpPr>
        <p:spPr>
          <a:xfrm>
            <a:off x="7772400" y="237744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Choosing a winner on test turns the final test number into a selection artefact rather than an honest estimate. Sections 3.8 and 4.10 read test once each, for a like-for-like reference figure, but no model, epoch, recipe or threshold was ever chosen using those numbers.</a:t>
            </a:r>
            <a:endParaRPr lang="en-US" sz="1400" dirty="0"/>
          </a:p>
        </p:txBody>
      </p:sp>
      <p:sp>
        <p:nvSpPr>
          <p:cNvPr id="16" name="callout panel"/>
          <p:cNvSpPr/>
          <p:nvPr/>
        </p:nvSpPr>
        <p:spPr>
          <a:xfrm>
            <a:off x="548640" y="5577840"/>
            <a:ext cx="11091672" cy="640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callout text"/>
          <p:cNvSpPr txBox="1"/>
          <p:nvPr/>
        </p:nvSpPr>
        <p:spPr>
          <a:xfrm>
            <a:off x="822960" y="5687568"/>
            <a:ext cx="10543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Model A wins by 5.1 macro-F1 points.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That gap is transfer learning, measured rather than assumed.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Error analysis on the winner</a:t>
            </a:r>
            <a:endParaRPr lang="en-US" sz="3200" dirty="0"/>
          </a:p>
        </p:txBody>
      </p:sp>
      <p:graphicFrame>
        <p:nvGraphicFramePr>
          <p:cNvPr id="13" name="error rat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4937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914400"/>
                <a:gridCol w="10058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Class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Val images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Errors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Error rate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Gray Leaf Spot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85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9.4%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Blight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171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8.8%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Common Rust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195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3.6%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Healthy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174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0.6%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ption"/>
          <p:cNvSpPr txBox="1"/>
          <p:nvPr/>
        </p:nvSpPr>
        <p:spPr>
          <a:xfrm>
            <a:off x="548640" y="40233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Sections 6.2 to 6.4</a:t>
            </a:r>
            <a:endParaRPr lang="en-US" sz="1000" dirty="0"/>
          </a:p>
        </p:txBody>
      </p:sp>
      <p:pic>
        <p:nvPicPr>
          <p:cNvPr id="5" name="Histogram of model confidence for correct predictions versus mistakes" descr="Histogram of model confidence for correct predictions versus mistak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417320"/>
            <a:ext cx="5669280" cy="2028458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5943600" y="349149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Section 6.4: confidence when right vs when wrong</a:t>
            </a:r>
            <a:endParaRPr lang="en-US" sz="1000" dirty="0"/>
          </a:p>
        </p:txBody>
      </p:sp>
      <p:sp>
        <p:nvSpPr>
          <p:cNvPr id="7" name="stat 96.8%"/>
          <p:cNvSpPr txBox="1"/>
          <p:nvPr/>
        </p:nvSpPr>
        <p:spPr>
          <a:xfrm>
            <a:off x="5943600" y="3840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96.8%</a:t>
            </a:r>
            <a:endParaRPr lang="en-US" sz="3200" dirty="0"/>
          </a:p>
        </p:txBody>
      </p:sp>
      <p:sp>
        <p:nvSpPr>
          <p:cNvPr id="8" name="label 96.8%"/>
          <p:cNvSpPr txBox="1"/>
          <p:nvPr/>
        </p:nvSpPr>
        <p:spPr>
          <a:xfrm>
            <a:off x="5943600" y="4361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confident when right</a:t>
            </a:r>
            <a:endParaRPr lang="en-US" sz="1200" dirty="0"/>
          </a:p>
        </p:txBody>
      </p:sp>
      <p:sp>
        <p:nvSpPr>
          <p:cNvPr id="9" name="stat 79.0%"/>
          <p:cNvSpPr txBox="1"/>
          <p:nvPr/>
        </p:nvSpPr>
        <p:spPr>
          <a:xfrm>
            <a:off x="8869680" y="3840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79.0%</a:t>
            </a:r>
            <a:endParaRPr lang="en-US" sz="3200" dirty="0"/>
          </a:p>
        </p:txBody>
      </p:sp>
      <p:sp>
        <p:nvSpPr>
          <p:cNvPr id="10" name="label 79.0%"/>
          <p:cNvSpPr txBox="1"/>
          <p:nvPr/>
        </p:nvSpPr>
        <p:spPr>
          <a:xfrm>
            <a:off x="8869680" y="4361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confident when wrong</a:t>
            </a:r>
            <a:endParaRPr lang="en-US" sz="1200" dirty="0"/>
          </a:p>
        </p:txBody>
      </p:sp>
      <p:sp>
        <p:nvSpPr>
          <p:cNvPr id="11" name="insight panel"/>
          <p:cNvSpPr/>
          <p:nvPr/>
        </p:nvSpPr>
        <p:spPr>
          <a:xfrm>
            <a:off x="548640" y="4937760"/>
            <a:ext cx="11091672" cy="1325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insights"/>
          <p:cNvSpPr txBox="1"/>
          <p:nvPr/>
        </p:nvSpPr>
        <p:spPr>
          <a:xfrm>
            <a:off x="822960" y="512064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The model is 96.8% confident when right and still 79.0% confident when wrong.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Only 3 of 31 mistakes fall below 50% confidence, so a confidence threshold would miss almost every error.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Errors concentrate in Gray Leaf Spot (9.4%) and Blight (8.8%), while Healthy is essentially solved at 0.6%.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Looking at what it gets wrong</a:t>
            </a:r>
            <a:endParaRPr lang="en-US" sz="3200" dirty="0"/>
          </a:p>
        </p:txBody>
      </p:sp>
      <p:pic>
        <p:nvPicPr>
          <p:cNvPr id="3" name="A sample of the 31 misclassified validation images" descr="A sample of the 31 misclassified validation im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562772" cy="3200400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548640" y="46177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Section 6.5: a sample of the 31 misclassified validation images</a:t>
            </a:r>
            <a:endParaRPr lang="en-US" sz="1000" dirty="0"/>
          </a:p>
        </p:txBody>
      </p:sp>
      <p:graphicFrame>
        <p:nvGraphicFramePr>
          <p:cNvPr id="14" name="image statistic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463040"/>
          <a:ext cx="569671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737360"/>
                <a:gridCol w="17647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Measured on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31 mistakes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594 correct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Brightness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0.465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0.468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Saturation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0.493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0.498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Sharpness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1034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1998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tat ~2×"/>
          <p:cNvSpPr txBox="1"/>
          <p:nvPr/>
        </p:nvSpPr>
        <p:spPr>
          <a:xfrm>
            <a:off x="5943600" y="3520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~2×</a:t>
            </a:r>
            <a:endParaRPr lang="en-US" sz="4400" dirty="0"/>
          </a:p>
        </p:txBody>
      </p:sp>
      <p:sp>
        <p:nvSpPr>
          <p:cNvPr id="7" name="label ~2×"/>
          <p:cNvSpPr txBox="1"/>
          <p:nvPr/>
        </p:nvSpPr>
        <p:spPr>
          <a:xfrm>
            <a:off x="5943600" y="4270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lower sharpness on mistakes</a:t>
            </a:r>
            <a:endParaRPr lang="en-US" sz="1200" dirty="0"/>
          </a:p>
        </p:txBody>
      </p:sp>
      <p:sp>
        <p:nvSpPr>
          <p:cNvPr id="8" name="insight panel"/>
          <p:cNvSpPr/>
          <p:nvPr/>
        </p:nvSpPr>
        <p:spPr>
          <a:xfrm>
            <a:off x="548640" y="4937760"/>
            <a:ext cx="11091672" cy="1325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insights"/>
          <p:cNvSpPr txBox="1"/>
          <p:nvPr/>
        </p:nvSpPr>
        <p:spPr>
          <a:xfrm>
            <a:off x="822960" y="512064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Brightness and saturation are almost identical for right and wrong predictions, so lighting is not the cause.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Sharpness is about half on mistakes (1034 vs 1998): the errors are the blurry photographs.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Blur destroys the texture cues that separate Blight from Gray Leaf Spot, which is why a bigger model helps more than augmentation.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Reducing the errors</a:t>
            </a:r>
            <a:endParaRPr lang="en-US" sz="3200" dirty="0"/>
          </a:p>
        </p:txBody>
      </p:sp>
      <p:sp>
        <p:nvSpPr>
          <p:cNvPr id="3" name="scope note"/>
          <p:cNvSpPr txBox="1"/>
          <p:nvPr/>
        </p:nvSpPr>
        <p:spPr>
          <a:xfrm>
            <a:off x="54864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Sections 7.1 to 7.4, all selected on validation</a:t>
            </a:r>
            <a:endParaRPr lang="en-US" sz="1300" dirty="0"/>
          </a:p>
        </p:txBody>
      </p:sp>
      <p:graphicFrame>
        <p:nvGraphicFramePr>
          <p:cNvPr id="15" name="experimen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72237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71600"/>
                <a:gridCol w="1371600"/>
                <a:gridCol w="11887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Configuration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Val macro F1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Val accuracy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vs baseline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baseline (section 5 winner)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93.75%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95.04%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n/a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exp_a: stronger augmentation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94.68%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95.84%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+0.93%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exp_b: YOLO26s (larger)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95.01%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96.00%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+1.26%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tat +1.26%"/>
          <p:cNvSpPr txBox="1"/>
          <p:nvPr/>
        </p:nvSpPr>
        <p:spPr>
          <a:xfrm>
            <a:off x="9052560" y="1737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+1.26%</a:t>
            </a:r>
            <a:endParaRPr lang="en-US" sz="4000" dirty="0"/>
          </a:p>
        </p:txBody>
      </p:sp>
      <p:sp>
        <p:nvSpPr>
          <p:cNvPr id="6" name="label +1.26%"/>
          <p:cNvSpPr txBox="1"/>
          <p:nvPr/>
        </p:nvSpPr>
        <p:spPr>
          <a:xfrm>
            <a:off x="9052560" y="24871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val macro F1 from the larger backbone</a:t>
            </a:r>
            <a:endParaRPr lang="en-US" sz="1200" dirty="0"/>
          </a:p>
        </p:txBody>
      </p:sp>
      <p:sp>
        <p:nvSpPr>
          <p:cNvPr id="7" name="experiment points"/>
          <p:cNvSpPr txBox="1"/>
          <p:nvPr/>
        </p:nvSpPr>
        <p:spPr>
          <a:xfrm>
            <a:off x="548640" y="40690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exp_a: augmix, stronger crop and colour jitter. Inside the noise band, and labelled as such.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exp_b: swap yolo26n-cls for the larger yolo26s-cls backbone.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Only exp_b clears the sub-1% noise threshold, so it is the one that ships.</a:t>
            </a:r>
            <a:endParaRPr lang="en-US" sz="1500" dirty="0"/>
          </a:p>
        </p:txBody>
      </p:sp>
      <p:sp>
        <p:nvSpPr>
          <p:cNvPr id="8" name="callout panel"/>
          <p:cNvSpPr/>
          <p:nvPr/>
        </p:nvSpPr>
        <p:spPr>
          <a:xfrm>
            <a:off x="548640" y="5440680"/>
            <a:ext cx="11091672" cy="777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callout text"/>
          <p:cNvSpPr txBox="1"/>
          <p:nvPr/>
        </p:nvSpPr>
        <p:spPr>
          <a:xfrm>
            <a:off x="822960" y="5550408"/>
            <a:ext cx="105430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gain that mattered was capacity, not augmentation.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change under a point on 625 validation images is noise, so the notebook labels it as noise instead of banking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final model</a:t>
            </a:r>
            <a:endParaRPr lang="en-US" sz="3200" dirty="0"/>
          </a:p>
        </p:txBody>
      </p:sp>
      <p:sp>
        <p:nvSpPr>
          <p:cNvPr id="3" name="scope note"/>
          <p:cNvSpPr txBox="1"/>
          <p:nvPr/>
        </p:nvSpPr>
        <p:spPr>
          <a:xfrm>
            <a:off x="54864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Sections 7.5 and 9.3</a:t>
            </a:r>
            <a:endParaRPr lang="en-US" sz="1300" dirty="0"/>
          </a:p>
        </p:txBody>
      </p:sp>
      <p:sp>
        <p:nvSpPr>
          <p:cNvPr id="4" name="test accuracy tile"/>
          <p:cNvSpPr/>
          <p:nvPr/>
        </p:nvSpPr>
        <p:spPr>
          <a:xfrm>
            <a:off x="548640" y="1737360"/>
            <a:ext cx="3931920" cy="2651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st accuracy"/>
          <p:cNvSpPr txBox="1"/>
          <p:nvPr/>
        </p:nvSpPr>
        <p:spPr>
          <a:xfrm>
            <a:off x="822960" y="20116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95.68%</a:t>
            </a:r>
            <a:endParaRPr lang="en-US" sz="6400" dirty="0"/>
          </a:p>
        </p:txBody>
      </p:sp>
      <p:sp>
        <p:nvSpPr>
          <p:cNvPr id="6" name="test accuracy label"/>
          <p:cNvSpPr txBox="1"/>
          <p:nvPr/>
        </p:nvSpPr>
        <p:spPr>
          <a:xfrm>
            <a:off x="822960" y="32004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test accuracy, scored once on 625 images</a:t>
            </a:r>
            <a:endParaRPr lang="en-US" sz="1500" dirty="0"/>
          </a:p>
        </p:txBody>
      </p:sp>
      <p:graphicFrame>
        <p:nvGraphicFramePr>
          <p:cNvPr id="16" name="final model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737360"/>
          <a:ext cx="6702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2511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Final model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YOLO26s-cls (larger variant)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Validation macro F1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95.01%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Validation accuracy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96.00%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Test accuracy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95.68% (of 625, scored once)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Target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96%: met on validation, not on test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Cost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0.2 ms per image, 3.2 MB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arget points"/>
          <p:cNvSpPr txBox="1"/>
          <p:nvPr/>
        </p:nvSpPr>
        <p:spPr>
          <a:xfrm>
            <a:off x="548640" y="46177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96.00% on validation is exactly the target, with no room to spare.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95.68% on test is 0.32 points under it.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The honest reading: the target is met, but not robustly, and not where it counts.</a:t>
            </a:r>
            <a:endParaRPr lang="en-US" sz="1500" dirty="0"/>
          </a:p>
        </p:txBody>
      </p:sp>
      <p:sp>
        <p:nvSpPr>
          <p:cNvPr id="9" name="callout panel"/>
          <p:cNvSpPr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callout text"/>
          <p:cNvSpPr txBox="1"/>
          <p:nvPr/>
        </p:nvSpPr>
        <p:spPr>
          <a:xfrm>
            <a:off x="822960" y="5733288"/>
            <a:ext cx="10543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Reporting 96.00% and stopping would have been the easy answer.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test number is lower, and that gap is the most useful thing in the project.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Grad-CAM on the final model</a:t>
            </a:r>
            <a:endParaRPr lang="en-US" sz="3200" dirty="0"/>
          </a:p>
        </p:txBody>
      </p:sp>
      <p:pic>
        <p:nvPicPr>
          <p:cNvPr id="3" name="Grad-CAM heatmaps for the largest confusion pair, Blight read as Gray Leaf Spot" descr="Grad-CAM heatmaps for the largest confusion pair, Blight read as Gray Leaf Sp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191496" cy="3291840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548640" y="470916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Section 8.1: Blight read as Gray Leaf Spot, 13 of the final model's 25 mistakes. Heatmap on the C3k2 block, 16×16.</a:t>
            </a:r>
            <a:endParaRPr lang="en-US" sz="1000" dirty="0"/>
          </a:p>
        </p:txBody>
      </p:sp>
      <p:sp>
        <p:nvSpPr>
          <p:cNvPr id="5" name="stat 25"/>
          <p:cNvSpPr txBox="1"/>
          <p:nvPr/>
        </p:nvSpPr>
        <p:spPr>
          <a:xfrm>
            <a:off x="7589520" y="1371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25</a:t>
            </a:r>
            <a:endParaRPr lang="en-US" sz="3000" dirty="0"/>
          </a:p>
        </p:txBody>
      </p:sp>
      <p:sp>
        <p:nvSpPr>
          <p:cNvPr id="6" name="label 25"/>
          <p:cNvSpPr txBox="1"/>
          <p:nvPr/>
        </p:nvSpPr>
        <p:spPr>
          <a:xfrm>
            <a:off x="7589520" y="1847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mistakes, down from 31 for the baseline</a:t>
            </a:r>
            <a:endParaRPr lang="en-US" sz="1200" dirty="0"/>
          </a:p>
        </p:txBody>
      </p:sp>
      <p:sp>
        <p:nvSpPr>
          <p:cNvPr id="7" name="stat 3.4%"/>
          <p:cNvSpPr txBox="1"/>
          <p:nvPr/>
        </p:nvSpPr>
        <p:spPr>
          <a:xfrm>
            <a:off x="7589520" y="2194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3.4%</a:t>
            </a:r>
            <a:endParaRPr lang="en-US" sz="3000" dirty="0"/>
          </a:p>
        </p:txBody>
      </p:sp>
      <p:sp>
        <p:nvSpPr>
          <p:cNvPr id="8" name="label 3.4%"/>
          <p:cNvSpPr txBox="1"/>
          <p:nvPr/>
        </p:nvSpPr>
        <p:spPr>
          <a:xfrm>
            <a:off x="7589520" y="26700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of the frame highlighted on mistakes</a:t>
            </a:r>
            <a:endParaRPr lang="en-US" sz="1200" dirty="0"/>
          </a:p>
        </p:txBody>
      </p:sp>
      <p:sp>
        <p:nvSpPr>
          <p:cNvPr id="9" name="stat 5.6%"/>
          <p:cNvSpPr txBox="1"/>
          <p:nvPr/>
        </p:nvSpPr>
        <p:spPr>
          <a:xfrm>
            <a:off x="7589520" y="3017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5.6%</a:t>
            </a:r>
            <a:endParaRPr lang="en-US" sz="3000" dirty="0"/>
          </a:p>
        </p:txBody>
      </p:sp>
      <p:sp>
        <p:nvSpPr>
          <p:cNvPr id="10" name="label 5.6%"/>
          <p:cNvSpPr txBox="1"/>
          <p:nvPr/>
        </p:nvSpPr>
        <p:spPr>
          <a:xfrm>
            <a:off x="7589520" y="3493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highlighted on correct predictions</a:t>
            </a:r>
            <a:endParaRPr lang="en-US" sz="1200" dirty="0"/>
          </a:p>
        </p:txBody>
      </p:sp>
      <p:sp>
        <p:nvSpPr>
          <p:cNvPr id="11" name="stat 9.0%"/>
          <p:cNvSpPr txBox="1"/>
          <p:nvPr/>
        </p:nvSpPr>
        <p:spPr>
          <a:xfrm>
            <a:off x="7589520" y="3840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9.0%</a:t>
            </a:r>
            <a:endParaRPr lang="en-US" sz="3000" dirty="0"/>
          </a:p>
        </p:txBody>
      </p:sp>
      <p:sp>
        <p:nvSpPr>
          <p:cNvPr id="12" name="label 9.0%"/>
          <p:cNvSpPr txBox="1"/>
          <p:nvPr/>
        </p:nvSpPr>
        <p:spPr>
          <a:xfrm>
            <a:off x="7589520" y="4315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highlighted on Healthy leaves</a:t>
            </a:r>
            <a:endParaRPr lang="en-US" sz="1200" dirty="0"/>
          </a:p>
        </p:txBody>
      </p:sp>
      <p:sp>
        <p:nvSpPr>
          <p:cNvPr id="13" name="insight panel"/>
          <p:cNvSpPr/>
          <p:nvPr/>
        </p:nvSpPr>
        <p:spPr>
          <a:xfrm>
            <a:off x="548640" y="5074920"/>
            <a:ext cx="11091672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insights"/>
          <p:cNvSpPr txBox="1"/>
          <p:nvPr/>
        </p:nvSpPr>
        <p:spPr>
          <a:xfrm>
            <a:off x="822960" y="5257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On mistakes the model looks at a narrower area (3.4% of the frame) than on correct predictions (5.6%), so it is not sweeping the background.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The heat sits on the leaf lesions, not on the soil, which is the reassuring reading.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Healthy leaves need the widest look (9.0%), which fits with it being the easiest class.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Inference and visual QA</a:t>
            </a:r>
            <a:endParaRPr lang="en-US" sz="3200" dirty="0"/>
          </a:p>
        </p:txBody>
      </p:sp>
      <p:pic>
        <p:nvPicPr>
          <p:cNvPr id="3" name="Single image inference: Blight predicted as Blight at 99% confidence" descr="Single image inference: Blight predicted as Blight at 99% confid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701721" cy="2651760"/>
          </a:xfrm>
          <a:prstGeom prst="rect">
            <a:avLst/>
          </a:prstGeom>
        </p:spPr>
      </p:pic>
      <p:pic>
        <p:nvPicPr>
          <p:cNvPr id="4" name="Batch prediction on a grid of leaf images" descr="Batch prediction on a grid of leaf imag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673539" cy="265176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40690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Section 9.1: single image, Blight predicted Blight at 99%</a:t>
            </a:r>
            <a:endParaRPr lang="en-US" sz="1000" dirty="0"/>
          </a:p>
        </p:txBody>
      </p:sp>
      <p:sp>
        <p:nvSpPr>
          <p:cNvPr id="6" name="caption"/>
          <p:cNvSpPr txBox="1"/>
          <p:nvPr/>
        </p:nvSpPr>
        <p:spPr>
          <a:xfrm>
            <a:off x="7772400" y="40690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Section 9.2: batch prediction</a:t>
            </a:r>
            <a:endParaRPr lang="en-US" sz="1000" dirty="0"/>
          </a:p>
        </p:txBody>
      </p:sp>
      <p:sp>
        <p:nvSpPr>
          <p:cNvPr id="7" name="insight panel"/>
          <p:cNvSpPr/>
          <p:nvPr/>
        </p:nvSpPr>
        <p:spPr>
          <a:xfrm>
            <a:off x="548640" y="4572000"/>
            <a:ext cx="11091672" cy="1645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insights"/>
          <p:cNvSpPr txBox="1"/>
          <p:nvPr/>
        </p:nvSpPr>
        <p:spPr>
          <a:xfrm>
            <a:off x="822960" y="4754880"/>
            <a:ext cx="10543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 single leaf is classified as Blight with 99% confidence in 0.2 ms on MPS.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 full 625-image split scores in well under a second, so speed was never the bottleneck.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Manual QA over a labelled sample confirms the printed numbers and surfaces the blurry cases.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Accuracy on field photographs is the real challenge, not inference cost.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Limitations and intended use</a:t>
            </a:r>
            <a:endParaRPr lang="en-US" sz="3200" dirty="0"/>
          </a:p>
        </p:txBody>
      </p:sp>
      <p:sp>
        <p:nvSpPr>
          <p:cNvPr id="3" name="limitations"/>
          <p:cNvSpPr txBox="1"/>
          <p:nvPr/>
        </p:nvSpPr>
        <p:spPr>
          <a:xfrm>
            <a:off x="548640" y="1463040"/>
            <a:ext cx="6675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625 held-out images from one public compilation of PlantVillage and PlantDoc: no field-trial data, no geographic or seasonal metadata.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The score does not predict performance on a new farm. It predicts performance on this dataset.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Gray Leaf Spot stays the weakest class at 9.4% error even after levelling, because repetition creates no new photographs.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Blight and Gray Leaf Spot overlap visually by nature; 13 residual errors sit in that one pair.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Validation is 625 images, so differences under about 1 point are noise, which is why exp_a was not banked.</a:t>
            </a:r>
            <a:endParaRPr lang="en-US" sz="1500" dirty="0"/>
          </a:p>
        </p:txBody>
      </p:sp>
      <p:sp>
        <p:nvSpPr>
          <p:cNvPr id="4" name="intended use panel"/>
          <p:cNvSpPr/>
          <p:nvPr/>
        </p:nvSpPr>
        <p:spPr>
          <a:xfrm>
            <a:off x="7680960" y="1463040"/>
            <a:ext cx="3959352" cy="466344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5" name="intended use 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783080"/>
            <a:ext cx="411480" cy="411480"/>
          </a:xfrm>
          <a:prstGeom prst="rect">
            <a:avLst/>
          </a:prstGeom>
        </p:spPr>
      </p:pic>
      <p:sp>
        <p:nvSpPr>
          <p:cNvPr id="6" name="intended use label"/>
          <p:cNvSpPr txBox="1"/>
          <p:nvPr/>
        </p:nvSpPr>
        <p:spPr>
          <a:xfrm>
            <a:off x="800100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INTENDED USE</a:t>
            </a:r>
            <a:endParaRPr lang="en-US" sz="1200" dirty="0"/>
          </a:p>
        </p:txBody>
      </p:sp>
      <p:sp>
        <p:nvSpPr>
          <p:cNvPr id="7" name="intended use text"/>
          <p:cNvSpPr txBox="1"/>
          <p:nvPr/>
        </p:nvSpPr>
        <p:spPr>
          <a:xfrm>
            <a:off x="8001000" y="2743200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Triage and prioritisation with agronomist confirmation. Not standalone diagnosis, not automated treatment decisions.</a:t>
            </a:r>
            <a:endParaRPr lang="en-US" sz="1800" dirty="0"/>
          </a:p>
        </p:txBody>
      </p:sp>
      <p:sp>
        <p:nvSpPr>
          <p:cNvPr id="8" name="intended use note"/>
          <p:cNvSpPr txBox="1"/>
          <p:nvPr/>
        </p:nvSpPr>
        <p:spPr>
          <a:xfrm>
            <a:off x="8001000" y="4480560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D3E3"/>
                </a:solidFill>
              </a:rPr>
              <a:t>A tool that flags the leaf worth looking at is useful today. A tool that says 'do not spray' is not, and this one must not be sold as if it were.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number 1"/>
          <p:cNvSpPr txBox="1"/>
          <p:nvPr/>
        </p:nvSpPr>
        <p:spPr>
          <a:xfrm>
            <a:off x="548640" y="13716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akeaway 1"/>
          <p:cNvSpPr txBox="1"/>
          <p:nvPr/>
        </p:nvSpPr>
        <p:spPr>
          <a:xfrm>
            <a:off x="1280160" y="1371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Transfer learning is the headline result.</a:t>
            </a:r>
            <a:endParaRPr lang="en-US" sz="1700" dirty="0"/>
          </a:p>
        </p:txBody>
      </p:sp>
      <p:sp>
        <p:nvSpPr>
          <p:cNvPr id="5" name="detail 1"/>
          <p:cNvSpPr txBox="1"/>
          <p:nvPr/>
        </p:nvSpPr>
        <p:spPr>
          <a:xfrm>
            <a:off x="6126480" y="1371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E3"/>
                </a:solidFill>
              </a:rPr>
              <a:t>93.75% vs 88.65% validation macro F1, 31× smaller and 8× faster at the same time.</a:t>
            </a:r>
            <a:endParaRPr lang="en-US" sz="1400" dirty="0"/>
          </a:p>
        </p:txBody>
      </p:sp>
      <p:sp>
        <p:nvSpPr>
          <p:cNvPr id="6" name="number 2"/>
          <p:cNvSpPr txBox="1"/>
          <p:nvPr/>
        </p:nvSpPr>
        <p:spPr>
          <a:xfrm>
            <a:off x="548640" y="2148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akeaway 2"/>
          <p:cNvSpPr txBox="1"/>
          <p:nvPr/>
        </p:nvSpPr>
        <p:spPr>
          <a:xfrm>
            <a:off x="1280160" y="2148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The confusion is structural, not architectural.</a:t>
            </a:r>
            <a:endParaRPr lang="en-US" sz="1700" dirty="0"/>
          </a:p>
        </p:txBody>
      </p:sp>
      <p:sp>
        <p:nvSpPr>
          <p:cNvPr id="8" name="detail 2"/>
          <p:cNvSpPr txBox="1"/>
          <p:nvPr/>
        </p:nvSpPr>
        <p:spPr>
          <a:xfrm>
            <a:off x="6126480" y="2148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E3"/>
                </a:solidFill>
              </a:rPr>
              <a:t>Both models fail on Blight ↔ Gray Leaf Spot. More data of that pair is the fix.</a:t>
            </a:r>
            <a:endParaRPr lang="en-US" sz="14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29260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akeaway 3"/>
          <p:cNvSpPr txBox="1"/>
          <p:nvPr/>
        </p:nvSpPr>
        <p:spPr>
          <a:xfrm>
            <a:off x="1280160" y="2926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Errors are a sharpness problem.</a:t>
            </a:r>
            <a:endParaRPr lang="en-US" sz="1700" dirty="0"/>
          </a:p>
        </p:txBody>
      </p:sp>
      <p:sp>
        <p:nvSpPr>
          <p:cNvPr id="11" name="detail 3"/>
          <p:cNvSpPr txBox="1"/>
          <p:nvPr/>
        </p:nvSpPr>
        <p:spPr>
          <a:xfrm>
            <a:off x="6126480" y="2926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E3"/>
                </a:solidFill>
              </a:rPr>
              <a:t>Brightness and saturation are flat between right and wrong; blur is the whole signal.</a:t>
            </a:r>
            <a:endParaRPr lang="en-US" sz="1400" dirty="0"/>
          </a:p>
        </p:txBody>
      </p:sp>
      <p:sp>
        <p:nvSpPr>
          <p:cNvPr id="12" name="number 4"/>
          <p:cNvSpPr txBox="1"/>
          <p:nvPr/>
        </p:nvSpPr>
        <p:spPr>
          <a:xfrm>
            <a:off x="548640" y="37033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3000" dirty="0"/>
          </a:p>
        </p:txBody>
      </p:sp>
      <p:sp>
        <p:nvSpPr>
          <p:cNvPr id="13" name="takeaway 4"/>
          <p:cNvSpPr txBox="1"/>
          <p:nvPr/>
        </p:nvSpPr>
        <p:spPr>
          <a:xfrm>
            <a:off x="1280160" y="3703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The target was met on validation and missed on test.</a:t>
            </a:r>
            <a:endParaRPr lang="en-US" sz="1700" dirty="0"/>
          </a:p>
        </p:txBody>
      </p:sp>
      <p:sp>
        <p:nvSpPr>
          <p:cNvPr id="14" name="detail 4"/>
          <p:cNvSpPr txBox="1"/>
          <p:nvPr/>
        </p:nvSpPr>
        <p:spPr>
          <a:xfrm>
            <a:off x="6126480" y="3703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E3"/>
                </a:solidFill>
              </a:rPr>
              <a:t>96.00% then 95.68%. Reporting only the first would have been dishonest.</a:t>
            </a:r>
            <a:endParaRPr lang="en-US" sz="1400" dirty="0"/>
          </a:p>
        </p:txBody>
      </p:sp>
      <p:sp>
        <p:nvSpPr>
          <p:cNvPr id="15" name="number 5"/>
          <p:cNvSpPr txBox="1"/>
          <p:nvPr/>
        </p:nvSpPr>
        <p:spPr>
          <a:xfrm>
            <a:off x="548640" y="44805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3000" dirty="0"/>
          </a:p>
        </p:txBody>
      </p:sp>
      <p:sp>
        <p:nvSpPr>
          <p:cNvPr id="16" name="takeaway 5"/>
          <p:cNvSpPr txBox="1"/>
          <p:nvPr/>
        </p:nvSpPr>
        <p:spPr>
          <a:xfrm>
            <a:off x="1280160" y="4480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The model does read the lesion.</a:t>
            </a:r>
            <a:endParaRPr lang="en-US" sz="1700" dirty="0"/>
          </a:p>
        </p:txBody>
      </p:sp>
      <p:sp>
        <p:nvSpPr>
          <p:cNvPr id="17" name="detail 5"/>
          <p:cNvSpPr txBox="1"/>
          <p:nvPr/>
        </p:nvSpPr>
        <p:spPr>
          <a:xfrm>
            <a:off x="6126480" y="44805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E3"/>
                </a:solidFill>
              </a:rPr>
              <a:t>Grad-CAM highlights 3.4% of the frame on mistakes vs 5.6% on correct predictions.</a:t>
            </a:r>
            <a:endParaRPr lang="en-US" sz="1400" dirty="0"/>
          </a:p>
        </p:txBody>
      </p:sp>
      <p:sp>
        <p:nvSpPr>
          <p:cNvPr id="18" name="next step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NEXT STEP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Field photographs from a real planting, and a shadow/lighting normalisation step. The sharpness result says the ceiling here is image quality, not architecture.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ize Disease - Poseidon">
  <a:themeElements>
    <a:clrScheme name="Maize Disease - Poseidon">
      <a:dk1>
        <a:srgbClr val="0B2545"/>
      </a:dk1>
      <a:lt1>
        <a:srgbClr val="FFFFFF"/>
      </a:lt1>
      <a:dk2>
        <a:srgbClr val="4D6D91"/>
      </a:dk2>
      <a:lt2>
        <a:srgbClr val="F3F5F8"/>
      </a:lt2>
      <a:accent1>
        <a:srgbClr val="0B2545"/>
      </a:accent1>
      <a:accent2>
        <a:srgbClr val="4D6D91"/>
      </a:accent2>
      <a:accent3>
        <a:srgbClr val="E8731A"/>
      </a:accent3>
      <a:accent4>
        <a:srgbClr val="8FA5BF"/>
      </a:accent4>
      <a:accent5>
        <a:srgbClr val="D9E2EC"/>
      </a:accent5>
      <a:accent6>
        <a:srgbClr val="1E3A5F"/>
      </a:accent6>
      <a:hlink>
        <a:srgbClr val="4D6D91"/>
      </a:hlink>
      <a:folHlink>
        <a:srgbClr val="4D6D91"/>
      </a:folHlink>
    </a:clrScheme>
    <a:fontScheme name="Maize Disease - Poseid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Maize Leaf Disease Classification</dc:title>
  <dc:subject>PptxGenJS Presentation</dc:subject>
  <dc:creator>Maize Disease Detection</dc:creator>
  <cp:lastModifiedBy>Maize Disease Detection</cp:lastModifiedBy>
  <cp:revision>1</cp:revision>
  <dcterms:created xsi:type="dcterms:W3CDTF">2026-10-02T10:13:13Z</dcterms:created>
  <dcterms:modified xsi:type="dcterms:W3CDTF">2026-10-02T10:13:13Z</dcterms:modified>
</cp:coreProperties>
</file>